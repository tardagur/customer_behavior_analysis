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ora" charset="1" panose="00000500000000000000"/>
      <p:regular r:id="rId19"/>
    </p:embeddedFont>
    <p:embeddedFont>
      <p:font typeface="Source Sans 3" charset="1" panose="020B0303030403020204"/>
      <p:regular r:id="rId20"/>
    </p:embeddedFont>
    <p:embeddedFont>
      <p:font typeface="Source Sans 3 Bold" charset="1" panose="020B0303030403020204"/>
      <p:regular r:id="rId21"/>
    </p:embeddedFont>
    <p:embeddedFont>
      <p:font typeface="Consolas" charset="1" panose="020B0609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14.jpe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11141" y="3742392"/>
            <a:ext cx="9342758" cy="156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Customer Shopping Behavior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11141" y="5619140"/>
            <a:ext cx="9342758" cy="91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Uncovering spending patterns, customer segments, and product preferences from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3,900 transactions</a:t>
            </a: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across multiple categories.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729548"/>
            <a:ext cx="16205949" cy="51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77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Dataset 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4250" y="1616135"/>
            <a:ext cx="5223358" cy="4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4353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3,900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950" y="2257406"/>
            <a:ext cx="8035947" cy="24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Transactions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24242" y="1616135"/>
            <a:ext cx="5223358" cy="4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4353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17943" y="2257406"/>
            <a:ext cx="8035947" cy="24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54250" y="2878293"/>
            <a:ext cx="5223358" cy="4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4353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37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950" y="3519554"/>
            <a:ext cx="8035947" cy="24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Missing Values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950" y="3830403"/>
            <a:ext cx="8035947" cy="21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9"/>
              </a:lnSpc>
            </a:pPr>
            <a:r>
              <a:rPr lang="en-US" sz="1275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Review Rating column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24242" y="2878293"/>
            <a:ext cx="5223358" cy="47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4353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$59.76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17943" y="3519554"/>
            <a:ext cx="8035947" cy="24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Avg Purchase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7950" y="4291689"/>
            <a:ext cx="5133985" cy="5134118"/>
            <a:chOff x="0" y="0"/>
            <a:chExt cx="6845313" cy="684549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6845300" cy="6845427"/>
            </a:xfrm>
            <a:custGeom>
              <a:avLst/>
              <a:gdLst/>
              <a:ahLst/>
              <a:cxnLst/>
              <a:rect r="r" b="b" t="t" l="l"/>
              <a:pathLst>
                <a:path h="6845427" w="6845300">
                  <a:moveTo>
                    <a:pt x="0" y="0"/>
                  </a:moveTo>
                  <a:lnTo>
                    <a:pt x="6845300" y="0"/>
                  </a:lnTo>
                  <a:lnTo>
                    <a:pt x="6845300" y="6845427"/>
                  </a:lnTo>
                  <a:lnTo>
                    <a:pt x="0" y="6845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364951" y="6349203"/>
            <a:ext cx="7898482" cy="24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Key Feature Groups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64951" y="6747624"/>
            <a:ext cx="7898482" cy="69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1104" indent="-115552" lvl="1">
              <a:lnSpc>
                <a:spcPts val="1669"/>
              </a:lnSpc>
              <a:buFont typeface="Arial"/>
              <a:buChar char="•"/>
            </a:pPr>
            <a:r>
              <a:rPr lang="en-US" b="true" sz="1275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Demographics</a:t>
            </a:r>
            <a:r>
              <a:rPr lang="en-US" sz="1275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Age, Gender, Location, Subscription</a:t>
            </a:r>
          </a:p>
          <a:p>
            <a:pPr algn="l" marL="231104" indent="-115552" lvl="1">
              <a:lnSpc>
                <a:spcPts val="1669"/>
              </a:lnSpc>
              <a:buFont typeface="Arial"/>
              <a:buChar char="•"/>
            </a:pPr>
            <a:r>
              <a:rPr lang="en-US" b="true" sz="1275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Purchase Details</a:t>
            </a:r>
            <a:r>
              <a:rPr lang="en-US" sz="1275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Item, Category, Amount, Season</a:t>
            </a:r>
          </a:p>
          <a:p>
            <a:pPr algn="l" marL="231104" indent="-115552" lvl="1">
              <a:lnSpc>
                <a:spcPts val="1669"/>
              </a:lnSpc>
              <a:buFont typeface="Arial"/>
              <a:buChar char="•"/>
            </a:pPr>
            <a:r>
              <a:rPr lang="en-US" b="true" sz="1275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Behavior</a:t>
            </a:r>
            <a:r>
              <a:rPr lang="en-US" sz="1275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Discount, Frequency, Review Rating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950" y="894426"/>
            <a:ext cx="9342758" cy="75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578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Data Preparation in Python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950" y="2000174"/>
            <a:ext cx="497757" cy="311144"/>
            <a:chOff x="0" y="0"/>
            <a:chExt cx="663677" cy="4148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3681" cy="414860"/>
            </a:xfrm>
            <a:custGeom>
              <a:avLst/>
              <a:gdLst/>
              <a:ahLst/>
              <a:cxnLst/>
              <a:rect r="r" b="b" t="t" l="l"/>
              <a:pathLst>
                <a:path h="414860" w="663681">
                  <a:moveTo>
                    <a:pt x="0" y="0"/>
                  </a:moveTo>
                  <a:lnTo>
                    <a:pt x="663681" y="0"/>
                  </a:lnTo>
                  <a:lnTo>
                    <a:pt x="663681" y="414860"/>
                  </a:lnTo>
                  <a:lnTo>
                    <a:pt x="0" y="4148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201" t="0" r="-3020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63677" cy="414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7950" y="2394585"/>
            <a:ext cx="9342758" cy="28594"/>
            <a:chOff x="0" y="0"/>
            <a:chExt cx="12457011" cy="38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57049" cy="38100"/>
            </a:xfrm>
            <a:custGeom>
              <a:avLst/>
              <a:gdLst/>
              <a:ahLst/>
              <a:cxnLst/>
              <a:rect r="r" b="b" t="t" l="l"/>
              <a:pathLst>
                <a:path h="38100" w="12457049">
                  <a:moveTo>
                    <a:pt x="0" y="0"/>
                  </a:moveTo>
                  <a:lnTo>
                    <a:pt x="12457049" y="0"/>
                  </a:lnTo>
                  <a:lnTo>
                    <a:pt x="1245704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7950" y="2566616"/>
            <a:ext cx="9342758" cy="3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Load &amp; Explore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7950" y="2979125"/>
            <a:ext cx="9342758" cy="51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1951">
                <a:solidFill>
                  <a:srgbClr val="3A3630"/>
                </a:solidFill>
                <a:latin typeface="Consolas"/>
                <a:ea typeface="Consolas"/>
                <a:cs typeface="Consolas"/>
                <a:sym typeface="Consolas"/>
              </a:rPr>
              <a:t>pandas — df.info(), describe()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47950" y="3914108"/>
            <a:ext cx="497757" cy="311144"/>
            <a:chOff x="0" y="0"/>
            <a:chExt cx="663677" cy="4148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3681" cy="414860"/>
            </a:xfrm>
            <a:custGeom>
              <a:avLst/>
              <a:gdLst/>
              <a:ahLst/>
              <a:cxnLst/>
              <a:rect r="r" b="b" t="t" l="l"/>
              <a:pathLst>
                <a:path h="414860" w="663681">
                  <a:moveTo>
                    <a:pt x="0" y="0"/>
                  </a:moveTo>
                  <a:lnTo>
                    <a:pt x="663681" y="0"/>
                  </a:lnTo>
                  <a:lnTo>
                    <a:pt x="663681" y="414860"/>
                  </a:lnTo>
                  <a:lnTo>
                    <a:pt x="0" y="4148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201" t="0" r="-3020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63677" cy="414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7950" y="4308519"/>
            <a:ext cx="9342758" cy="28594"/>
            <a:chOff x="0" y="0"/>
            <a:chExt cx="12457011" cy="381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57049" cy="38100"/>
            </a:xfrm>
            <a:custGeom>
              <a:avLst/>
              <a:gdLst/>
              <a:ahLst/>
              <a:cxnLst/>
              <a:rect r="r" b="b" t="t" l="l"/>
              <a:pathLst>
                <a:path h="38100" w="12457049">
                  <a:moveTo>
                    <a:pt x="0" y="0"/>
                  </a:moveTo>
                  <a:lnTo>
                    <a:pt x="12457049" y="0"/>
                  </a:lnTo>
                  <a:lnTo>
                    <a:pt x="1245704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47950" y="4480550"/>
            <a:ext cx="9342758" cy="3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Clean Missing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950" y="4921634"/>
            <a:ext cx="9342758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1951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Imputed Review Rating by category median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7950" y="5808983"/>
            <a:ext cx="497757" cy="311144"/>
            <a:chOff x="0" y="0"/>
            <a:chExt cx="663677" cy="4148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3681" cy="414860"/>
            </a:xfrm>
            <a:custGeom>
              <a:avLst/>
              <a:gdLst/>
              <a:ahLst/>
              <a:cxnLst/>
              <a:rect r="r" b="b" t="t" l="l"/>
              <a:pathLst>
                <a:path h="414860" w="663681">
                  <a:moveTo>
                    <a:pt x="0" y="0"/>
                  </a:moveTo>
                  <a:lnTo>
                    <a:pt x="663681" y="0"/>
                  </a:lnTo>
                  <a:lnTo>
                    <a:pt x="663681" y="414860"/>
                  </a:lnTo>
                  <a:lnTo>
                    <a:pt x="0" y="4148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201" t="0" r="-3020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63677" cy="414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7950" y="6203385"/>
            <a:ext cx="9342758" cy="28594"/>
            <a:chOff x="0" y="0"/>
            <a:chExt cx="12457011" cy="38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57049" cy="38100"/>
            </a:xfrm>
            <a:custGeom>
              <a:avLst/>
              <a:gdLst/>
              <a:ahLst/>
              <a:cxnLst/>
              <a:rect r="r" b="b" t="t" l="l"/>
              <a:pathLst>
                <a:path h="38100" w="12457049">
                  <a:moveTo>
                    <a:pt x="0" y="0"/>
                  </a:moveTo>
                  <a:lnTo>
                    <a:pt x="12457049" y="0"/>
                  </a:lnTo>
                  <a:lnTo>
                    <a:pt x="1245704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47950" y="6375425"/>
            <a:ext cx="9342758" cy="3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Feature Engineering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7950" y="6787925"/>
            <a:ext cx="9342758" cy="51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1951">
                <a:solidFill>
                  <a:srgbClr val="3A3630"/>
                </a:solidFill>
                <a:latin typeface="Consolas"/>
                <a:ea typeface="Consolas"/>
                <a:cs typeface="Consolas"/>
                <a:sym typeface="Consolas"/>
              </a:rPr>
              <a:t>Created age_group and purchase_frequency_days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47950" y="7722918"/>
            <a:ext cx="497757" cy="311144"/>
            <a:chOff x="0" y="0"/>
            <a:chExt cx="663677" cy="4148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3681" cy="414860"/>
            </a:xfrm>
            <a:custGeom>
              <a:avLst/>
              <a:gdLst/>
              <a:ahLst/>
              <a:cxnLst/>
              <a:rect r="r" b="b" t="t" l="l"/>
              <a:pathLst>
                <a:path h="414860" w="663681">
                  <a:moveTo>
                    <a:pt x="0" y="0"/>
                  </a:moveTo>
                  <a:lnTo>
                    <a:pt x="663681" y="0"/>
                  </a:lnTo>
                  <a:lnTo>
                    <a:pt x="663681" y="414860"/>
                  </a:lnTo>
                  <a:lnTo>
                    <a:pt x="0" y="4148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0201" t="0" r="-3020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663677" cy="414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7950" y="8117329"/>
            <a:ext cx="9342758" cy="28594"/>
            <a:chOff x="0" y="0"/>
            <a:chExt cx="12457011" cy="381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57049" cy="38100"/>
            </a:xfrm>
            <a:custGeom>
              <a:avLst/>
              <a:gdLst/>
              <a:ahLst/>
              <a:cxnLst/>
              <a:rect r="r" b="b" t="t" l="l"/>
              <a:pathLst>
                <a:path h="38100" w="12457049">
                  <a:moveTo>
                    <a:pt x="0" y="0"/>
                  </a:moveTo>
                  <a:lnTo>
                    <a:pt x="12457049" y="0"/>
                  </a:lnTo>
                  <a:lnTo>
                    <a:pt x="1245704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47950" y="8289360"/>
            <a:ext cx="9342758" cy="37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Database Integration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7950" y="8730444"/>
            <a:ext cx="9342758" cy="46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1951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Loaded cleaned DataFrame into </a:t>
            </a:r>
            <a:r>
              <a:rPr lang="en-US" sz="1951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PostgreSQL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450734"/>
            <a:ext cx="16205949" cy="7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Revenue by Gender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950" y="2927947"/>
            <a:ext cx="7783344" cy="5602548"/>
            <a:chOff x="0" y="0"/>
            <a:chExt cx="10377792" cy="747006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377805" cy="7470013"/>
            </a:xfrm>
            <a:custGeom>
              <a:avLst/>
              <a:gdLst/>
              <a:ahLst/>
              <a:cxnLst/>
              <a:rect r="r" b="b" t="t" l="l"/>
              <a:pathLst>
                <a:path h="7470013" w="10377805">
                  <a:moveTo>
                    <a:pt x="0" y="0"/>
                  </a:moveTo>
                  <a:lnTo>
                    <a:pt x="10377805" y="0"/>
                  </a:lnTo>
                  <a:lnTo>
                    <a:pt x="10377805" y="7470013"/>
                  </a:lnTo>
                  <a:lnTo>
                    <a:pt x="0" y="747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80080" y="2885656"/>
            <a:ext cx="7783344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Key Finding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0080" y="3466300"/>
            <a:ext cx="8698440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Male customers generated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2.1× more revenue</a:t>
            </a: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than female customers.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80080" y="4256389"/>
            <a:ext cx="7783344" cy="1021461"/>
            <a:chOff x="0" y="0"/>
            <a:chExt cx="10377792" cy="1361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77932" cy="1362075"/>
            </a:xfrm>
            <a:custGeom>
              <a:avLst/>
              <a:gdLst/>
              <a:ahLst/>
              <a:cxnLst/>
              <a:rect r="r" b="b" t="t" l="l"/>
              <a:pathLst>
                <a:path h="1362075" w="10377932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0325481" y="0"/>
                  </a:lnTo>
                  <a:cubicBezTo>
                    <a:pt x="10354437" y="0"/>
                    <a:pt x="10377932" y="23495"/>
                    <a:pt x="10377932" y="52451"/>
                  </a:cubicBezTo>
                  <a:lnTo>
                    <a:pt x="10377932" y="1309624"/>
                  </a:lnTo>
                  <a:cubicBezTo>
                    <a:pt x="10377932" y="1338580"/>
                    <a:pt x="10354437" y="1362075"/>
                    <a:pt x="10325481" y="1362075"/>
                  </a:cubicBezTo>
                  <a:lnTo>
                    <a:pt x="52451" y="1362075"/>
                  </a:lnTo>
                  <a:cubicBezTo>
                    <a:pt x="23495" y="1362075"/>
                    <a:pt x="0" y="1338580"/>
                    <a:pt x="0" y="1309624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42065" y="4640361"/>
            <a:ext cx="327517" cy="261995"/>
            <a:chOff x="0" y="0"/>
            <a:chExt cx="436690" cy="34932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36753" cy="349377"/>
            </a:xfrm>
            <a:custGeom>
              <a:avLst/>
              <a:gdLst/>
              <a:ahLst/>
              <a:cxnLst/>
              <a:rect r="r" b="b" t="t" l="l"/>
              <a:pathLst>
                <a:path h="349377" w="436753">
                  <a:moveTo>
                    <a:pt x="0" y="0"/>
                  </a:moveTo>
                  <a:lnTo>
                    <a:pt x="436753" y="0"/>
                  </a:lnTo>
                  <a:lnTo>
                    <a:pt x="436753" y="349377"/>
                  </a:lnTo>
                  <a:lnTo>
                    <a:pt x="0" y="349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14" b="1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31577" y="4481351"/>
            <a:ext cx="7584958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Male: $157,890 · Female: $75,191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127074"/>
            <a:ext cx="16205949" cy="7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Top Products &amp; Discount Patterns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950" y="2562006"/>
            <a:ext cx="7783344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Top 5 by Review Rating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950" y="3251606"/>
            <a:ext cx="7783344" cy="5602548"/>
            <a:chOff x="0" y="0"/>
            <a:chExt cx="10377792" cy="747006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377805" cy="7470013"/>
            </a:xfrm>
            <a:custGeom>
              <a:avLst/>
              <a:gdLst/>
              <a:ahLst/>
              <a:cxnLst/>
              <a:rect r="r" b="b" t="t" l="l"/>
              <a:pathLst>
                <a:path h="7470013" w="10377805">
                  <a:moveTo>
                    <a:pt x="0" y="0"/>
                  </a:moveTo>
                  <a:lnTo>
                    <a:pt x="10377805" y="0"/>
                  </a:lnTo>
                  <a:lnTo>
                    <a:pt x="10377805" y="7470013"/>
                  </a:lnTo>
                  <a:lnTo>
                    <a:pt x="0" y="747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80080" y="2562006"/>
            <a:ext cx="7783344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Most Discount-Dependent Products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80080" y="3251606"/>
            <a:ext cx="7783344" cy="5602548"/>
            <a:chOff x="0" y="0"/>
            <a:chExt cx="10377792" cy="747006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377805" cy="7470013"/>
            </a:xfrm>
            <a:custGeom>
              <a:avLst/>
              <a:gdLst/>
              <a:ahLst/>
              <a:cxnLst/>
              <a:rect r="r" b="b" t="t" l="l"/>
              <a:pathLst>
                <a:path h="7470013" w="10377805">
                  <a:moveTo>
                    <a:pt x="0" y="0"/>
                  </a:moveTo>
                  <a:lnTo>
                    <a:pt x="10377805" y="0"/>
                  </a:lnTo>
                  <a:lnTo>
                    <a:pt x="10377805" y="7470013"/>
                  </a:lnTo>
                  <a:lnTo>
                    <a:pt x="0" y="747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t="0" r="-7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330681"/>
            <a:ext cx="16205949" cy="7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Shipping &amp; Subscription Insights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950" y="2807903"/>
            <a:ext cx="10310127" cy="5842502"/>
            <a:chOff x="0" y="0"/>
            <a:chExt cx="13746836" cy="779000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746862" cy="7790053"/>
            </a:xfrm>
            <a:custGeom>
              <a:avLst/>
              <a:gdLst/>
              <a:ahLst/>
              <a:cxnLst/>
              <a:rect r="r" b="b" t="t" l="l"/>
              <a:pathLst>
                <a:path h="7790053" w="13746862">
                  <a:moveTo>
                    <a:pt x="0" y="0"/>
                  </a:moveTo>
                  <a:lnTo>
                    <a:pt x="13746862" y="0"/>
                  </a:lnTo>
                  <a:lnTo>
                    <a:pt x="13746862" y="7790053"/>
                  </a:lnTo>
                  <a:lnTo>
                    <a:pt x="0" y="7790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06863" y="3067221"/>
            <a:ext cx="5256571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Shipping Type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6863" y="3647856"/>
            <a:ext cx="6171657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Express: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$60.48</a:t>
            </a: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avg vs. Standard: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$58.46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06863" y="4503334"/>
            <a:ext cx="5256571" cy="28594"/>
            <a:chOff x="0" y="0"/>
            <a:chExt cx="7008762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8749" cy="38100"/>
            </a:xfrm>
            <a:custGeom>
              <a:avLst/>
              <a:gdLst/>
              <a:ahLst/>
              <a:cxnLst/>
              <a:rect r="r" b="b" t="t" l="l"/>
              <a:pathLst>
                <a:path h="38100" w="700874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989699" y="0"/>
                  </a:lnTo>
                  <a:cubicBezTo>
                    <a:pt x="7000240" y="0"/>
                    <a:pt x="7008749" y="8509"/>
                    <a:pt x="7008749" y="19050"/>
                  </a:cubicBezTo>
                  <a:cubicBezTo>
                    <a:pt x="7008749" y="29591"/>
                    <a:pt x="7000240" y="38100"/>
                    <a:pt x="698969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3A3630">
                <a:alpha val="2470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06863" y="4882553"/>
            <a:ext cx="5256571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Subscription Status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6863" y="5463197"/>
            <a:ext cx="5256571" cy="1150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Subscribers: 1,053 · Avg spend: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$59.49</a:t>
            </a:r>
          </a:p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Non-subscribers: 2,847 · Avg spend: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$59.87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06863" y="6908197"/>
            <a:ext cx="5256571" cy="1440590"/>
            <a:chOff x="0" y="0"/>
            <a:chExt cx="7008762" cy="19207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8749" cy="1920875"/>
            </a:xfrm>
            <a:custGeom>
              <a:avLst/>
              <a:gdLst/>
              <a:ahLst/>
              <a:cxnLst/>
              <a:rect r="r" b="b" t="t" l="l"/>
              <a:pathLst>
                <a:path h="1920875" w="7008749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6956298" y="0"/>
                  </a:lnTo>
                  <a:cubicBezTo>
                    <a:pt x="6985254" y="0"/>
                    <a:pt x="7008749" y="23495"/>
                    <a:pt x="7008749" y="52451"/>
                  </a:cubicBezTo>
                  <a:lnTo>
                    <a:pt x="7008749" y="1868424"/>
                  </a:lnTo>
                  <a:cubicBezTo>
                    <a:pt x="7008749" y="1897380"/>
                    <a:pt x="6985254" y="1920875"/>
                    <a:pt x="6956298" y="1920875"/>
                  </a:cubicBezTo>
                  <a:lnTo>
                    <a:pt x="52451" y="1920875"/>
                  </a:lnTo>
                  <a:cubicBezTo>
                    <a:pt x="23495" y="1920875"/>
                    <a:pt x="0" y="1897380"/>
                    <a:pt x="0" y="1868424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68848" y="7292178"/>
            <a:ext cx="327517" cy="261995"/>
            <a:chOff x="0" y="0"/>
            <a:chExt cx="436690" cy="34932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36753" cy="349377"/>
            </a:xfrm>
            <a:custGeom>
              <a:avLst/>
              <a:gdLst/>
              <a:ahLst/>
              <a:cxnLst/>
              <a:rect r="r" b="b" t="t" l="l"/>
              <a:pathLst>
                <a:path h="349377" w="436753">
                  <a:moveTo>
                    <a:pt x="0" y="0"/>
                  </a:moveTo>
                  <a:lnTo>
                    <a:pt x="436753" y="0"/>
                  </a:lnTo>
                  <a:lnTo>
                    <a:pt x="436753" y="349377"/>
                  </a:lnTo>
                  <a:lnTo>
                    <a:pt x="0" y="349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14" b="1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58350" y="7133158"/>
            <a:ext cx="4143089" cy="91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Subscribers spend nearly the same — opportunity to grow base.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450734"/>
            <a:ext cx="16205949" cy="7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Customer Segmentation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950" y="2927947"/>
            <a:ext cx="7783344" cy="5602548"/>
            <a:chOff x="0" y="0"/>
            <a:chExt cx="10377792" cy="747006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377805" cy="7470013"/>
            </a:xfrm>
            <a:custGeom>
              <a:avLst/>
              <a:gdLst/>
              <a:ahLst/>
              <a:cxnLst/>
              <a:rect r="r" b="b" t="t" l="l"/>
              <a:pathLst>
                <a:path h="7470013" w="10377805">
                  <a:moveTo>
                    <a:pt x="0" y="0"/>
                  </a:moveTo>
                  <a:lnTo>
                    <a:pt x="10377805" y="0"/>
                  </a:lnTo>
                  <a:lnTo>
                    <a:pt x="10377805" y="7470013"/>
                  </a:lnTo>
                  <a:lnTo>
                    <a:pt x="0" y="747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80080" y="2885656"/>
            <a:ext cx="7783344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Segment Breakdown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80080" y="3575266"/>
            <a:ext cx="3760603" cy="1590427"/>
            <a:chOff x="0" y="0"/>
            <a:chExt cx="5014138" cy="21205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14214" cy="2120646"/>
            </a:xfrm>
            <a:custGeom>
              <a:avLst/>
              <a:gdLst/>
              <a:ahLst/>
              <a:cxnLst/>
              <a:rect r="r" b="b" t="t" l="l"/>
              <a:pathLst>
                <a:path h="2120646" w="5014214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4961763" y="0"/>
                  </a:lnTo>
                  <a:cubicBezTo>
                    <a:pt x="4990719" y="0"/>
                    <a:pt x="5014214" y="23495"/>
                    <a:pt x="5014214" y="52451"/>
                  </a:cubicBezTo>
                  <a:lnTo>
                    <a:pt x="5014214" y="2068195"/>
                  </a:lnTo>
                  <a:cubicBezTo>
                    <a:pt x="5014214" y="2097151"/>
                    <a:pt x="4990719" y="2120646"/>
                    <a:pt x="4961763" y="2120646"/>
                  </a:cubicBezTo>
                  <a:lnTo>
                    <a:pt x="52451" y="2120646"/>
                  </a:lnTo>
                  <a:cubicBezTo>
                    <a:pt x="23495" y="2120646"/>
                    <a:pt x="0" y="2097151"/>
                    <a:pt x="0" y="2068195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42065" y="3827736"/>
            <a:ext cx="3236633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Loyal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42065" y="4408370"/>
            <a:ext cx="3236633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3,116 customers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02669" y="3575266"/>
            <a:ext cx="3760756" cy="1590427"/>
            <a:chOff x="0" y="0"/>
            <a:chExt cx="5014341" cy="21205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14341" cy="2120646"/>
            </a:xfrm>
            <a:custGeom>
              <a:avLst/>
              <a:gdLst/>
              <a:ahLst/>
              <a:cxnLst/>
              <a:rect r="r" b="b" t="t" l="l"/>
              <a:pathLst>
                <a:path h="2120646" w="5014341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4961890" y="0"/>
                  </a:lnTo>
                  <a:cubicBezTo>
                    <a:pt x="4990846" y="0"/>
                    <a:pt x="5014341" y="23495"/>
                    <a:pt x="5014341" y="52451"/>
                  </a:cubicBezTo>
                  <a:lnTo>
                    <a:pt x="5014341" y="2068195"/>
                  </a:lnTo>
                  <a:cubicBezTo>
                    <a:pt x="5014341" y="2097151"/>
                    <a:pt x="4990846" y="2120646"/>
                    <a:pt x="4961890" y="2120646"/>
                  </a:cubicBezTo>
                  <a:lnTo>
                    <a:pt x="52451" y="2120646"/>
                  </a:lnTo>
                  <a:cubicBezTo>
                    <a:pt x="23495" y="2120646"/>
                    <a:pt x="0" y="2097151"/>
                    <a:pt x="0" y="2068195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764663" y="3827736"/>
            <a:ext cx="3236776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Returning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64663" y="4408370"/>
            <a:ext cx="3236776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701 customers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80080" y="5427688"/>
            <a:ext cx="7783344" cy="1590427"/>
            <a:chOff x="0" y="0"/>
            <a:chExt cx="10377792" cy="21205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77932" cy="2120646"/>
            </a:xfrm>
            <a:custGeom>
              <a:avLst/>
              <a:gdLst/>
              <a:ahLst/>
              <a:cxnLst/>
              <a:rect r="r" b="b" t="t" l="l"/>
              <a:pathLst>
                <a:path h="2120646" w="10377932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0325481" y="0"/>
                  </a:lnTo>
                  <a:cubicBezTo>
                    <a:pt x="10354437" y="0"/>
                    <a:pt x="10377932" y="23495"/>
                    <a:pt x="10377932" y="52451"/>
                  </a:cubicBezTo>
                  <a:lnTo>
                    <a:pt x="10377932" y="2068195"/>
                  </a:lnTo>
                  <a:cubicBezTo>
                    <a:pt x="10377932" y="2097151"/>
                    <a:pt x="10354437" y="2120646"/>
                    <a:pt x="10325481" y="2120646"/>
                  </a:cubicBezTo>
                  <a:lnTo>
                    <a:pt x="52451" y="2120646"/>
                  </a:lnTo>
                  <a:cubicBezTo>
                    <a:pt x="23495" y="2120646"/>
                    <a:pt x="0" y="2097151"/>
                    <a:pt x="0" y="2068195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42065" y="5680158"/>
            <a:ext cx="7259374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New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42065" y="6260792"/>
            <a:ext cx="7259374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83 customers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0080" y="7236676"/>
            <a:ext cx="8698440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Customers with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&gt;5 purchases</a:t>
            </a: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: 958 subscribed vs. 2,518 not subscribed.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950" y="1450734"/>
            <a:ext cx="16205949" cy="7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Revenue by Age Group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950" y="2927947"/>
            <a:ext cx="7783344" cy="5602548"/>
            <a:chOff x="0" y="0"/>
            <a:chExt cx="10377792" cy="747006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377805" cy="7470013"/>
            </a:xfrm>
            <a:custGeom>
              <a:avLst/>
              <a:gdLst/>
              <a:ahLst/>
              <a:cxnLst/>
              <a:rect r="r" b="b" t="t" l="l"/>
              <a:pathLst>
                <a:path h="7470013" w="10377805">
                  <a:moveTo>
                    <a:pt x="0" y="0"/>
                  </a:moveTo>
                  <a:lnTo>
                    <a:pt x="10377805" y="0"/>
                  </a:lnTo>
                  <a:lnTo>
                    <a:pt x="10377805" y="7470013"/>
                  </a:lnTo>
                  <a:lnTo>
                    <a:pt x="0" y="747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80080" y="2885656"/>
            <a:ext cx="7783344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Key Insight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0080" y="3466300"/>
            <a:ext cx="7783344" cy="91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Young Adults</a:t>
            </a: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lead in revenue at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$62,143</a:t>
            </a: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but all groups contribute relatively evenly — no single age group dominates.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80080" y="4675518"/>
            <a:ext cx="7783344" cy="1440590"/>
            <a:chOff x="0" y="0"/>
            <a:chExt cx="10377792" cy="19207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77932" cy="1920875"/>
            </a:xfrm>
            <a:custGeom>
              <a:avLst/>
              <a:gdLst/>
              <a:ahLst/>
              <a:cxnLst/>
              <a:rect r="r" b="b" t="t" l="l"/>
              <a:pathLst>
                <a:path h="1920875" w="10377932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0325481" y="0"/>
                  </a:lnTo>
                  <a:cubicBezTo>
                    <a:pt x="10354437" y="0"/>
                    <a:pt x="10377932" y="23495"/>
                    <a:pt x="10377932" y="52451"/>
                  </a:cubicBezTo>
                  <a:lnTo>
                    <a:pt x="10377932" y="1868424"/>
                  </a:lnTo>
                  <a:cubicBezTo>
                    <a:pt x="10377932" y="1897380"/>
                    <a:pt x="10354437" y="1920875"/>
                    <a:pt x="10325481" y="1920875"/>
                  </a:cubicBezTo>
                  <a:lnTo>
                    <a:pt x="52451" y="1920875"/>
                  </a:lnTo>
                  <a:cubicBezTo>
                    <a:pt x="23495" y="1920875"/>
                    <a:pt x="0" y="1897380"/>
                    <a:pt x="0" y="1868424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42065" y="5059499"/>
            <a:ext cx="327517" cy="261995"/>
            <a:chOff x="0" y="0"/>
            <a:chExt cx="436690" cy="34932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36753" cy="349377"/>
            </a:xfrm>
            <a:custGeom>
              <a:avLst/>
              <a:gdLst/>
              <a:ahLst/>
              <a:cxnLst/>
              <a:rect r="r" b="b" t="t" l="l"/>
              <a:pathLst>
                <a:path h="349377" w="436753">
                  <a:moveTo>
                    <a:pt x="0" y="0"/>
                  </a:moveTo>
                  <a:lnTo>
                    <a:pt x="436753" y="0"/>
                  </a:lnTo>
                  <a:lnTo>
                    <a:pt x="436753" y="349377"/>
                  </a:lnTo>
                  <a:lnTo>
                    <a:pt x="0" y="349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14" b="1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31577" y="4900479"/>
            <a:ext cx="6669862" cy="91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Revenue spread is surprisingly balanced across all four age segments.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950" y="825617"/>
            <a:ext cx="9342758" cy="7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Power BI Dashboard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950" y="2008070"/>
            <a:ext cx="9342758" cy="1485576"/>
            <a:chOff x="0" y="0"/>
            <a:chExt cx="12457011" cy="1980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57049" cy="1980819"/>
            </a:xfrm>
            <a:custGeom>
              <a:avLst/>
              <a:gdLst/>
              <a:ahLst/>
              <a:cxnLst/>
              <a:rect r="r" b="b" t="t" l="l"/>
              <a:pathLst>
                <a:path h="1980819" w="12457049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2404598" y="0"/>
                  </a:lnTo>
                  <a:cubicBezTo>
                    <a:pt x="12433554" y="0"/>
                    <a:pt x="12457049" y="23495"/>
                    <a:pt x="12457049" y="52451"/>
                  </a:cubicBezTo>
                  <a:lnTo>
                    <a:pt x="12457049" y="1928368"/>
                  </a:lnTo>
                  <a:cubicBezTo>
                    <a:pt x="12457049" y="1957324"/>
                    <a:pt x="12433554" y="1980819"/>
                    <a:pt x="12404598" y="1980819"/>
                  </a:cubicBezTo>
                  <a:lnTo>
                    <a:pt x="52451" y="1980819"/>
                  </a:lnTo>
                  <a:cubicBezTo>
                    <a:pt x="23495" y="1980819"/>
                    <a:pt x="0" y="1957324"/>
                    <a:pt x="0" y="1928368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09935" y="2260540"/>
            <a:ext cx="8818778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3.9K Customers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9935" y="2736323"/>
            <a:ext cx="8818778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Total transaction records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950" y="3755631"/>
            <a:ext cx="9342758" cy="1485576"/>
            <a:chOff x="0" y="0"/>
            <a:chExt cx="12457011" cy="19807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57049" cy="1980819"/>
            </a:xfrm>
            <a:custGeom>
              <a:avLst/>
              <a:gdLst/>
              <a:ahLst/>
              <a:cxnLst/>
              <a:rect r="r" b="b" t="t" l="l"/>
              <a:pathLst>
                <a:path h="1980819" w="12457049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2404598" y="0"/>
                  </a:lnTo>
                  <a:cubicBezTo>
                    <a:pt x="12433554" y="0"/>
                    <a:pt x="12457049" y="23495"/>
                    <a:pt x="12457049" y="52451"/>
                  </a:cubicBezTo>
                  <a:lnTo>
                    <a:pt x="12457049" y="1928368"/>
                  </a:lnTo>
                  <a:cubicBezTo>
                    <a:pt x="12457049" y="1957324"/>
                    <a:pt x="12433554" y="1980819"/>
                    <a:pt x="12404598" y="1980819"/>
                  </a:cubicBezTo>
                  <a:lnTo>
                    <a:pt x="52451" y="1980819"/>
                  </a:lnTo>
                  <a:cubicBezTo>
                    <a:pt x="23495" y="1980819"/>
                    <a:pt x="0" y="1957324"/>
                    <a:pt x="0" y="1928368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9935" y="4008101"/>
            <a:ext cx="8818778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$59.76 Avg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9935" y="4483884"/>
            <a:ext cx="8818778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purchase amount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950" y="5503202"/>
            <a:ext cx="9342758" cy="1485576"/>
            <a:chOff x="0" y="0"/>
            <a:chExt cx="12457011" cy="19807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57049" cy="1980819"/>
            </a:xfrm>
            <a:custGeom>
              <a:avLst/>
              <a:gdLst/>
              <a:ahLst/>
              <a:cxnLst/>
              <a:rect r="r" b="b" t="t" l="l"/>
              <a:pathLst>
                <a:path h="1980819" w="12457049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2404598" y="0"/>
                  </a:lnTo>
                  <a:cubicBezTo>
                    <a:pt x="12433554" y="0"/>
                    <a:pt x="12457049" y="23495"/>
                    <a:pt x="12457049" y="52451"/>
                  </a:cubicBezTo>
                  <a:lnTo>
                    <a:pt x="12457049" y="1928368"/>
                  </a:lnTo>
                  <a:cubicBezTo>
                    <a:pt x="12457049" y="1957324"/>
                    <a:pt x="12433554" y="1980819"/>
                    <a:pt x="12404598" y="1980819"/>
                  </a:cubicBezTo>
                  <a:lnTo>
                    <a:pt x="52451" y="1980819"/>
                  </a:lnTo>
                  <a:cubicBezTo>
                    <a:pt x="23495" y="1980819"/>
                    <a:pt x="0" y="1957324"/>
                    <a:pt x="0" y="1928368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09935" y="5755672"/>
            <a:ext cx="8818778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3.75 Rating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9935" y="6231455"/>
            <a:ext cx="8818778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Average review score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47950" y="7250763"/>
            <a:ext cx="9342758" cy="1485576"/>
            <a:chOff x="0" y="0"/>
            <a:chExt cx="12457011" cy="19807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457049" cy="1980819"/>
            </a:xfrm>
            <a:custGeom>
              <a:avLst/>
              <a:gdLst/>
              <a:ahLst/>
              <a:cxnLst/>
              <a:rect r="r" b="b" t="t" l="l"/>
              <a:pathLst>
                <a:path h="1980819" w="12457049">
                  <a:moveTo>
                    <a:pt x="0" y="52451"/>
                  </a:moveTo>
                  <a:cubicBezTo>
                    <a:pt x="0" y="23495"/>
                    <a:pt x="23495" y="0"/>
                    <a:pt x="52451" y="0"/>
                  </a:cubicBezTo>
                  <a:lnTo>
                    <a:pt x="12404598" y="0"/>
                  </a:lnTo>
                  <a:cubicBezTo>
                    <a:pt x="12433554" y="0"/>
                    <a:pt x="12457049" y="23495"/>
                    <a:pt x="12457049" y="52451"/>
                  </a:cubicBezTo>
                  <a:lnTo>
                    <a:pt x="12457049" y="1928368"/>
                  </a:lnTo>
                  <a:cubicBezTo>
                    <a:pt x="12457049" y="1957324"/>
                    <a:pt x="12433554" y="1980819"/>
                    <a:pt x="12404598" y="1980819"/>
                  </a:cubicBezTo>
                  <a:lnTo>
                    <a:pt x="52451" y="1980819"/>
                  </a:lnTo>
                  <a:cubicBezTo>
                    <a:pt x="23495" y="1980819"/>
                    <a:pt x="0" y="1957324"/>
                    <a:pt x="0" y="1928368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09935" y="7503233"/>
            <a:ext cx="8818778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27% Subscribers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9935" y="7979016"/>
            <a:ext cx="8818778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Subscription penetration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7950" y="8954900"/>
            <a:ext cx="10257844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Interactive filters: </a:t>
            </a:r>
            <a:r>
              <a:rPr lang="en-US" sz="2026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Subscription Status · Gender · Category · Shipping Type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950" y="1837544"/>
            <a:ext cx="9342758" cy="78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80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Business Recommendations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47950" y="3019996"/>
            <a:ext cx="655044" cy="655053"/>
          </a:xfrm>
          <a:custGeom>
            <a:avLst/>
            <a:gdLst/>
            <a:ahLst/>
            <a:cxnLst/>
            <a:rect r="r" b="b" t="t" l="l"/>
            <a:pathLst>
              <a:path h="655053" w="655044">
                <a:moveTo>
                  <a:pt x="0" y="0"/>
                </a:moveTo>
                <a:lnTo>
                  <a:pt x="655044" y="0"/>
                </a:lnTo>
                <a:lnTo>
                  <a:pt x="655044" y="655054"/>
                </a:lnTo>
                <a:lnTo>
                  <a:pt x="0" y="655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7389" r="0" b="-1739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30511" y="3010471"/>
            <a:ext cx="8360197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Boost Subscriptions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0511" y="3486255"/>
            <a:ext cx="8360197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Promote exclusive subscriber benefits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47950" y="4505573"/>
            <a:ext cx="655044" cy="655053"/>
          </a:xfrm>
          <a:custGeom>
            <a:avLst/>
            <a:gdLst/>
            <a:ahLst/>
            <a:cxnLst/>
            <a:rect r="r" b="b" t="t" l="l"/>
            <a:pathLst>
              <a:path h="655053" w="655044">
                <a:moveTo>
                  <a:pt x="0" y="0"/>
                </a:moveTo>
                <a:lnTo>
                  <a:pt x="655044" y="0"/>
                </a:lnTo>
                <a:lnTo>
                  <a:pt x="655044" y="655053"/>
                </a:lnTo>
                <a:lnTo>
                  <a:pt x="0" y="6550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30511" y="4496048"/>
            <a:ext cx="8360197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Loyalty Programs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0511" y="4971831"/>
            <a:ext cx="8360197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Reward repeat buyers → Loyal segment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47950" y="5991139"/>
            <a:ext cx="655044" cy="655053"/>
          </a:xfrm>
          <a:custGeom>
            <a:avLst/>
            <a:gdLst/>
            <a:ahLst/>
            <a:cxnLst/>
            <a:rect r="r" b="b" t="t" l="l"/>
            <a:pathLst>
              <a:path h="655053" w="655044">
                <a:moveTo>
                  <a:pt x="0" y="0"/>
                </a:moveTo>
                <a:lnTo>
                  <a:pt x="655044" y="0"/>
                </a:lnTo>
                <a:lnTo>
                  <a:pt x="655044" y="655054"/>
                </a:lnTo>
                <a:lnTo>
                  <a:pt x="0" y="655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30511" y="5981614"/>
            <a:ext cx="8360197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Review Discount Policy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0511" y="6457398"/>
            <a:ext cx="8360197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Balance sales lift with margin control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047950" y="7476715"/>
            <a:ext cx="655044" cy="655053"/>
          </a:xfrm>
          <a:custGeom>
            <a:avLst/>
            <a:gdLst/>
            <a:ahLst/>
            <a:cxnLst/>
            <a:rect r="r" b="b" t="t" l="l"/>
            <a:pathLst>
              <a:path h="655053" w="655044">
                <a:moveTo>
                  <a:pt x="0" y="0"/>
                </a:moveTo>
                <a:lnTo>
                  <a:pt x="655044" y="0"/>
                </a:lnTo>
                <a:lnTo>
                  <a:pt x="655044" y="655054"/>
                </a:lnTo>
                <a:lnTo>
                  <a:pt x="0" y="6550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722" r="0" b="-72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30511" y="7467190"/>
            <a:ext cx="8360197" cy="3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Targeted Marketing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30511" y="7942974"/>
            <a:ext cx="8360197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02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Focus on high-revenue age groups &amp; express-shipping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DAHToPdoqYU</dc:identifier>
  <dcterms:modified xsi:type="dcterms:W3CDTF">2011-08-01T06:04:30Z</dcterms:modified>
  <cp:revision>1</cp:revision>
  <dc:title>Customer Shopping Behavior Analysis.pptx</dc:title>
</cp:coreProperties>
</file>